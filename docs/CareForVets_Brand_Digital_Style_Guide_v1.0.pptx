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3.png"/><Relationship Id="rId6" Type="http://schemas.openxmlformats.org/officeDocument/2006/relationships/image" Target="../media/image-3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4.png"/><Relationship Id="rId6" Type="http://schemas.openxmlformats.org/officeDocument/2006/relationships/image" Target="../media/image-6-4.png"/><Relationship Id="rId7" Type="http://schemas.openxmlformats.org/officeDocument/2006/relationships/image" Target="../media/image-6-4.png"/><Relationship Id="rId8" Type="http://schemas.openxmlformats.org/officeDocument/2006/relationships/image" Target="../media/image-6-4.png"/><Relationship Id="rId9" Type="http://schemas.openxmlformats.org/officeDocument/2006/relationships/image" Target="../media/image-6-4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image" Target="../media/image-7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2.png"/><Relationship Id="rId6" Type="http://schemas.openxmlformats.org/officeDocument/2006/relationships/image" Target="../media/image-10-2.png"/><Relationship Id="rId7" Type="http://schemas.openxmlformats.org/officeDocument/2006/relationships/image" Target="../media/image-10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fv_titl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cfv_logo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38912"/>
            <a:ext cx="1737360" cy="12252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1938528"/>
            <a:ext cx="5623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&amp; Digital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 Guide</a:t>
            </a:r>
            <a:endParaRPr lang="en-US" sz="3600" dirty="0"/>
          </a:p>
        </p:txBody>
      </p:sp>
      <p:sp>
        <p:nvSpPr>
          <p:cNvPr id="5" name="Shape 1"/>
          <p:cNvSpPr/>
          <p:nvPr/>
        </p:nvSpPr>
        <p:spPr>
          <a:xfrm>
            <a:off x="585216" y="3675888"/>
            <a:ext cx="1078992" cy="0"/>
          </a:xfrm>
          <a:prstGeom prst="line">
            <a:avLst/>
          </a:prstGeom>
          <a:noFill/>
          <a:ln w="38100">
            <a:solidFill>
              <a:srgbClr val="CD283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85216" y="389534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  •  identity, web, app and operating-system guidance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85216" y="470916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CD2838"/>
          </a:solidFill>
          <a:ln w="12700">
            <a:solidFill>
              <a:srgbClr val="CD2838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94944" y="4777740"/>
            <a:ext cx="740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1691640" y="4709160"/>
            <a:ext cx="1499616" cy="310896"/>
          </a:xfrm>
          <a:prstGeom prst="roundRect">
            <a:avLst>
              <a:gd name="adj" fmla="val 23529"/>
            </a:avLst>
          </a:prstGeom>
          <a:solidFill>
            <a:srgbClr val="3C3B6E"/>
          </a:solidFill>
          <a:ln w="12700">
            <a:solidFill>
              <a:srgbClr val="3C3B6E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801368" y="4777740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EXCELLENCE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3337560" y="4709160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CD2838"/>
          </a:solidFill>
          <a:ln w="12700">
            <a:solidFill>
              <a:srgbClr val="CD2838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447288" y="4777740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RESPECT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585216" y="59893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CareForVets / CareForVets Ops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foundation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84124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original identity while moving the business narrative toward veteran-centered care.</a:t>
            </a:r>
            <a:endParaRPr lang="en-US" sz="1050" dirty="0"/>
          </a:p>
        </p:txBody>
      </p:sp>
      <p:pic>
        <p:nvPicPr>
          <p:cNvPr id="4" name="Image 0" descr="/mnt/data/cfv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9184"/>
            <a:ext cx="1325880" cy="9326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1508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D2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promise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85216" y="1792224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 veterans with the same discipline, dignity and follow-through they gave in service.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437376" y="1389888"/>
            <a:ext cx="47548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29984" y="1664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 shift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748272" y="221284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48272" y="248716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Veteran staffing and career placement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748272" y="2944368"/>
            <a:ext cx="3520440" cy="0"/>
          </a:xfrm>
          <a:prstGeom prst="line">
            <a:avLst/>
          </a:prstGeom>
          <a:noFill/>
          <a:ln w="15240">
            <a:solidFill>
              <a:srgbClr val="D7D8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48272" y="324612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D2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748272" y="3529584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Veteran-centered home health, navigation and care operations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48272" y="46634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D2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equity. Change the story.</a:t>
            </a:r>
            <a:endParaRPr lang="en-US" sz="1100" dirty="0"/>
          </a:p>
        </p:txBody>
      </p:sp>
      <p:pic>
        <p:nvPicPr>
          <p:cNvPr id="15" name="Image 1" descr="/mnt/data/cfv_star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767328"/>
            <a:ext cx="292608" cy="20628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60704" y="3703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</a:t>
            </a:r>
            <a:endParaRPr lang="en-US" sz="1600" dirty="0"/>
          </a:p>
        </p:txBody>
      </p:sp>
      <p:pic>
        <p:nvPicPr>
          <p:cNvPr id="17" name="Image 2" descr="/mnt/data/cfv_star_transpar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3767328"/>
            <a:ext cx="292608" cy="20628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889504" y="3703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Excellence</a:t>
            </a:r>
            <a:endParaRPr lang="en-US" sz="1600" dirty="0"/>
          </a:p>
        </p:txBody>
      </p:sp>
      <p:pic>
        <p:nvPicPr>
          <p:cNvPr id="19" name="Image 3" descr="/mnt/data/cfv_star_transpar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3767328"/>
            <a:ext cx="292608" cy="20628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18304" y="3703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Respect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76656" y="4224528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three words anchor every page, workflow and service promise. They should appear often enough to orient the brand, not so often that they become wallpaper.</a:t>
            </a:r>
            <a:endParaRPr lang="en-US" sz="1220" dirty="0"/>
          </a:p>
        </p:txBody>
      </p:sp>
      <p:sp>
        <p:nvSpPr>
          <p:cNvPr id="22" name="Text 16"/>
          <p:cNvSpPr/>
          <p:nvPr/>
        </p:nvSpPr>
        <p:spPr>
          <a:xfrm>
            <a:off x="41148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CareForVets Brand &amp; Digital Style Guide v1.0</a:t>
            </a:r>
            <a:endParaRPr lang="en-US" sz="750" dirty="0"/>
          </a:p>
        </p:txBody>
      </p:sp>
      <p:sp>
        <p:nvSpPr>
          <p:cNvPr id="23" name="Text 17"/>
          <p:cNvSpPr/>
          <p:nvPr/>
        </p:nvSpPr>
        <p:spPr>
          <a:xfrm>
            <a:off x="11356848" y="64373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Logo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84124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star/flag mark consistently. It is the primary brand memory structure.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353312"/>
            <a:ext cx="4754880" cy="2926080"/>
          </a:xfrm>
          <a:prstGeom prst="rect">
            <a:avLst/>
          </a:prstGeom>
          <a:solidFill>
            <a:srgbClr val="F7F6F3"/>
          </a:solidFill>
          <a:ln w="12700">
            <a:solidFill>
              <a:srgbClr val="D9D9DF"/>
            </a:solidFill>
            <a:prstDash val="solid"/>
          </a:ln>
        </p:spPr>
      </p:sp>
      <p:pic>
        <p:nvPicPr>
          <p:cNvPr id="5" name="Image 0" descr="/mnt/data/cfv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764792"/>
            <a:ext cx="2971800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44988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mark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12648" y="48463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for web headers, presentations, cover pages and social profiles.</a:t>
            </a:r>
            <a:endParaRPr lang="en-US" sz="1150" dirty="0"/>
          </a:p>
        </p:txBody>
      </p:sp>
      <p:pic>
        <p:nvPicPr>
          <p:cNvPr id="8" name="Image 1" descr="/mnt/data/cfv_logo_o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353312"/>
            <a:ext cx="5257800" cy="1188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70448" y="28163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Approved on dark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870448" y="314553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white-backed or reversed logo asset when the background is navy, photo-heavy or low contrast.</a:t>
            </a:r>
            <a:endParaRPr lang="en-US" sz="1120" dirty="0"/>
          </a:p>
        </p:txBody>
      </p:sp>
      <p:sp>
        <p:nvSpPr>
          <p:cNvPr id="11" name="Text 7"/>
          <p:cNvSpPr/>
          <p:nvPr/>
        </p:nvSpPr>
        <p:spPr>
          <a:xfrm>
            <a:off x="5870448" y="3977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D2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</a:t>
            </a:r>
            <a:endParaRPr lang="en-US" sz="750" dirty="0"/>
          </a:p>
        </p:txBody>
      </p:sp>
      <p:pic>
        <p:nvPicPr>
          <p:cNvPr id="12" name="Image 2" descr="/mnt/data/cfv_star_transpar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4315968"/>
            <a:ext cx="201168" cy="1418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72200" y="4297680"/>
            <a:ext cx="4389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clear space around the full mark.</a:t>
            </a:r>
            <a:endParaRPr lang="en-US" sz="1300" dirty="0"/>
          </a:p>
        </p:txBody>
      </p:sp>
      <p:pic>
        <p:nvPicPr>
          <p:cNvPr id="14" name="Image 3" descr="/mnt/data/cfv_star_transpar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4754880"/>
            <a:ext cx="201168" cy="1418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72200" y="4736592"/>
            <a:ext cx="4389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full mark for public-facing pages.</a:t>
            </a:r>
            <a:endParaRPr lang="en-US" sz="1300" dirty="0"/>
          </a:p>
        </p:txBody>
      </p:sp>
      <p:pic>
        <p:nvPicPr>
          <p:cNvPr id="16" name="Image 4" descr="/mnt/data/cfv_star_transpar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5193792"/>
            <a:ext cx="201168" cy="14182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172200" y="5175504"/>
            <a:ext cx="4389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star alone only as a supporting icon.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603504" y="55961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D2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DON’T</a:t>
            </a:r>
            <a:endParaRPr lang="en-US" sz="750" dirty="0"/>
          </a:p>
        </p:txBody>
      </p:sp>
      <p:pic>
        <p:nvPicPr>
          <p:cNvPr id="19" name="Image 5" descr="/mnt/data/cfv_star_transpar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5888736"/>
            <a:ext cx="201168" cy="14182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14400" y="585216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  •  recolor  •  rotate  •  separate “Care” from “Vets”  •  use on noisy backgrounds without contrast.</a:t>
            </a:r>
            <a:endParaRPr lang="en-US" sz="980" dirty="0"/>
          </a:p>
        </p:txBody>
      </p:sp>
      <p:sp>
        <p:nvSpPr>
          <p:cNvPr id="21" name="Text 13"/>
          <p:cNvSpPr/>
          <p:nvPr/>
        </p:nvSpPr>
        <p:spPr>
          <a:xfrm>
            <a:off x="41148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CareForVets Brand &amp; Digital Style Guide v1.0</a:t>
            </a:r>
            <a:endParaRPr lang="en-US" sz="750" dirty="0"/>
          </a:p>
        </p:txBody>
      </p:sp>
      <p:sp>
        <p:nvSpPr>
          <p:cNvPr id="22" name="Text 14"/>
          <p:cNvSpPr/>
          <p:nvPr/>
        </p:nvSpPr>
        <p:spPr>
          <a:xfrm>
            <a:off x="11356848" y="64373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palette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84124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Patriotic, restrained and readable. Red is an accent; navy carries the brand.</a:t>
            </a:r>
            <a:endParaRPr lang="en-US" sz="1050" dirty="0"/>
          </a:p>
        </p:txBody>
      </p:sp>
      <p:pic>
        <p:nvPicPr>
          <p:cNvPr id="4" name="Image 0" descr="/mnt/data/cfv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9184"/>
            <a:ext cx="1325880" cy="9326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508760"/>
            <a:ext cx="1024128" cy="1024128"/>
          </a:xfrm>
          <a:prstGeom prst="rect">
            <a:avLst/>
          </a:prstGeom>
          <a:solidFill>
            <a:srgbClr val="3C3B6E"/>
          </a:solidFill>
          <a:ln w="12700">
            <a:solidFill>
              <a:srgbClr val="3C3B6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901952" y="15453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CareForVets Navy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901952" y="18928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D2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#3C3B6E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901952" y="21945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brand color: headers, navigation, key text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4389120" y="1508760"/>
            <a:ext cx="1024128" cy="1024128"/>
          </a:xfrm>
          <a:prstGeom prst="rect">
            <a:avLst/>
          </a:prstGeom>
          <a:solidFill>
            <a:srgbClr val="CD2838"/>
          </a:solidFill>
          <a:ln w="12700">
            <a:solidFill>
              <a:srgbClr val="CD2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50992" y="15453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CareForVets Red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650992" y="18928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D2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#CD2838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50992" y="21945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Accent color: star, calls to action, highlights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8138160" y="1508760"/>
            <a:ext cx="102412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A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00032" y="15453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400032" y="18928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D2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#FFFFFF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400032" y="21945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Breathing room, clinical clarity and contrast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640080" y="3840480"/>
            <a:ext cx="1024128" cy="1024128"/>
          </a:xfrm>
          <a:prstGeom prst="rect">
            <a:avLst/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901952" y="38770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 White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901952" y="42245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D2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#F7F6F3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901952" y="45262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backgrounds and presentation pages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4389120" y="3840480"/>
            <a:ext cx="1024128" cy="1024128"/>
          </a:xfrm>
          <a:prstGeom prst="rect">
            <a:avLst/>
          </a:prstGeom>
          <a:solidFill>
            <a:srgbClr val="5D6272"/>
          </a:solidFill>
          <a:ln w="12700">
            <a:solidFill>
              <a:srgbClr val="5D627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50992" y="38770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Slate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650992" y="42245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D2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#5D6272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650992" y="45262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body text and metadata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8138160" y="3840480"/>
            <a:ext cx="1024128" cy="1024128"/>
          </a:xfrm>
          <a:prstGeom prst="rect">
            <a:avLst/>
          </a:prstGeom>
          <a:solidFill>
            <a:srgbClr val="242338"/>
          </a:solidFill>
          <a:ln w="12700">
            <a:solidFill>
              <a:srgbClr val="24233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400032" y="38770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Ink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9400032" y="42245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D2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#242338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400032" y="45262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High-contrast text on light surfaces</a:t>
            </a:r>
            <a:endParaRPr lang="en-US" sz="940" dirty="0"/>
          </a:p>
        </p:txBody>
      </p:sp>
      <p:sp>
        <p:nvSpPr>
          <p:cNvPr id="29" name="Text 26"/>
          <p:cNvSpPr/>
          <p:nvPr/>
        </p:nvSpPr>
        <p:spPr>
          <a:xfrm>
            <a:off x="685800" y="599846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D2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balance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2697480" y="596188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 white/off-white  •  20% navy  •  10% red accent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1148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CareForVets Brand &amp; Digital Style Guide v1.0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11356848" y="64373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Typography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84124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traditional serif for heritage. A clean sans serif for modern healthcare operations.</a:t>
            </a:r>
            <a:endParaRPr lang="en-US" sz="1050" dirty="0"/>
          </a:p>
        </p:txBody>
      </p:sp>
      <p:pic>
        <p:nvPicPr>
          <p:cNvPr id="4" name="Image 0" descr="/mnt/data/cfv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9184"/>
            <a:ext cx="1325880" cy="9326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Georgia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04088" y="22128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for brand statements, slide titles, hero headlines and high-emphasis messaging.</a:t>
            </a:r>
            <a:endParaRPr lang="en-US" sz="1160" dirty="0"/>
          </a:p>
        </p:txBody>
      </p:sp>
      <p:sp>
        <p:nvSpPr>
          <p:cNvPr id="7" name="Text 4"/>
          <p:cNvSpPr/>
          <p:nvPr/>
        </p:nvSpPr>
        <p:spPr>
          <a:xfrm>
            <a:off x="676656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C3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Aptos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04088" y="40416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for body copy, dashboards, forms, labels, instructions and operational workflows.</a:t>
            </a:r>
            <a:endParaRPr lang="en-US" sz="1160" dirty="0"/>
          </a:p>
        </p:txBody>
      </p:sp>
      <p:sp>
        <p:nvSpPr>
          <p:cNvPr id="9" name="Shape 6"/>
          <p:cNvSpPr/>
          <p:nvPr/>
        </p:nvSpPr>
        <p:spPr>
          <a:xfrm>
            <a:off x="5897880" y="1417320"/>
            <a:ext cx="5166360" cy="4160520"/>
          </a:xfrm>
          <a:prstGeom prst="rect">
            <a:avLst/>
          </a:prstGeom>
          <a:solidFill>
            <a:srgbClr val="F7F6F3"/>
          </a:solidFill>
          <a:ln w="12700">
            <a:solidFill>
              <a:srgbClr val="E1E2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2200" y="17007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Hierarchy sample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172200" y="22128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 headline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181344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title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199632" y="34381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heading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99632" y="395020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copy should be plain, direct and human. Avoid overly sentimental copy and avoid dense paragraphs in the app.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99632" y="4882896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CD2838"/>
          </a:solidFill>
          <a:ln w="12700">
            <a:solidFill>
              <a:srgbClr val="CD283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4951476"/>
            <a:ext cx="1792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CTA / PRIMARY BUTTON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13232" y="5961888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rule: body text should stay at 16px+ on web, with strong navy/dark contrast.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1148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CareForVets Brand &amp; Digital Style Guide v1.0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356848" y="64373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Photography &amp; visual style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84124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Veteran-centered, human, calm and competent. Patriotism should support the story, not overpower it.</a:t>
            </a:r>
            <a:endParaRPr lang="en-US" sz="1050" dirty="0"/>
          </a:p>
        </p:txBody>
      </p:sp>
      <p:pic>
        <p:nvPicPr>
          <p:cNvPr id="4" name="Image 0" descr="/mnt/data/CareForVets FB 1.png">    </p:cNvPr>
          <p:cNvPicPr>
            <a:picLocks noChangeAspect="1"/>
          </p:cNvPicPr>
          <p:nvPr/>
        </p:nvPicPr>
        <p:blipFill>
          <a:blip r:embed="rId1"/>
          <a:srcRect l="13634" r="13634" t="0" b="0"/>
          <a:stretch/>
        </p:blipFill>
        <p:spPr>
          <a:xfrm>
            <a:off x="594360" y="1325880"/>
            <a:ext cx="3246120" cy="2514600"/>
          </a:xfrm>
          <a:prstGeom prst="rect">
            <a:avLst/>
          </a:prstGeom>
        </p:spPr>
      </p:pic>
      <p:pic>
        <p:nvPicPr>
          <p:cNvPr id="5" name="Image 1" descr="/mnt/data/CareForVets FB2.png">    </p:cNvPr>
          <p:cNvPicPr>
            <a:picLocks noChangeAspect="1"/>
          </p:cNvPicPr>
          <p:nvPr/>
        </p:nvPicPr>
        <p:blipFill>
          <a:blip r:embed="rId2"/>
          <a:srcRect l="13634" r="13634" t="0" b="0"/>
          <a:stretch/>
        </p:blipFill>
        <p:spPr>
          <a:xfrm>
            <a:off x="4160520" y="1325880"/>
            <a:ext cx="3246120" cy="2514600"/>
          </a:xfrm>
          <a:prstGeom prst="rect">
            <a:avLst/>
          </a:prstGeom>
        </p:spPr>
      </p:pic>
      <p:pic>
        <p:nvPicPr>
          <p:cNvPr id="6" name="Image 2" descr="/mnt/data/CareForVets LinkedIn 2.png">    </p:cNvPr>
          <p:cNvPicPr>
            <a:picLocks noChangeAspect="1"/>
          </p:cNvPicPr>
          <p:nvPr/>
        </p:nvPicPr>
        <p:blipFill>
          <a:blip r:embed="rId3"/>
          <a:srcRect l="39071" r="39071" t="0" b="0"/>
          <a:stretch/>
        </p:blipFill>
        <p:spPr>
          <a:xfrm>
            <a:off x="7726680" y="1325880"/>
            <a:ext cx="3246120" cy="25146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58368" y="4224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</a:t>
            </a:r>
            <a:endParaRPr lang="en-US" sz="1700" dirty="0"/>
          </a:p>
        </p:txBody>
      </p:sp>
      <p:pic>
        <p:nvPicPr>
          <p:cNvPr id="8" name="Image 3" descr="/mnt/data/cfv_star_transpar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636008"/>
            <a:ext cx="201168" cy="14182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78408" y="4617720"/>
            <a:ext cx="42976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Veterans as whole people — not props.</a:t>
            </a:r>
            <a:endParaRPr lang="en-US" sz="1300" dirty="0"/>
          </a:p>
        </p:txBody>
      </p:sp>
      <p:pic>
        <p:nvPicPr>
          <p:cNvPr id="10" name="Image 4" descr="/mnt/data/cfv_star_transpar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5047488"/>
            <a:ext cx="201168" cy="14182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978408" y="5029200"/>
            <a:ext cx="44805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Home, community and care-navigation settings.</a:t>
            </a:r>
            <a:endParaRPr lang="en-US" sz="1300" dirty="0"/>
          </a:p>
        </p:txBody>
      </p:sp>
      <p:pic>
        <p:nvPicPr>
          <p:cNvPr id="12" name="Image 5" descr="/mnt/data/cfv_star_transpar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5458968"/>
            <a:ext cx="201168" cy="141823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78408" y="5440680"/>
            <a:ext cx="46634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interaction, clear light, restrained overlays.</a:t>
            </a:r>
            <a:endParaRPr lang="en-US" sz="1300" dirty="0"/>
          </a:p>
        </p:txBody>
      </p:sp>
      <p:sp>
        <p:nvSpPr>
          <p:cNvPr id="14" name="Text 6"/>
          <p:cNvSpPr/>
          <p:nvPr/>
        </p:nvSpPr>
        <p:spPr>
          <a:xfrm>
            <a:off x="6601968" y="4224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</a:t>
            </a:r>
            <a:endParaRPr lang="en-US" sz="1700" dirty="0"/>
          </a:p>
        </p:txBody>
      </p:sp>
      <p:pic>
        <p:nvPicPr>
          <p:cNvPr id="15" name="Image 6" descr="/mnt/data/cfv_star_transpar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4636008"/>
            <a:ext cx="201168" cy="141823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922008" y="4617720"/>
            <a:ext cx="42976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imagery on every screen.</a:t>
            </a:r>
            <a:endParaRPr lang="en-US" sz="1300" dirty="0"/>
          </a:p>
        </p:txBody>
      </p:sp>
      <p:pic>
        <p:nvPicPr>
          <p:cNvPr id="17" name="Image 7" descr="/mnt/data/cfv_star_transpar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0256" y="5047488"/>
            <a:ext cx="201168" cy="141823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922008" y="5029200"/>
            <a:ext cx="46634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Excessive camouflage, salutes, eagles or clichés.</a:t>
            </a:r>
            <a:endParaRPr lang="en-US" sz="1300" dirty="0"/>
          </a:p>
        </p:txBody>
      </p:sp>
      <p:pic>
        <p:nvPicPr>
          <p:cNvPr id="19" name="Image 8" descr="/mnt/data/cfv_star_transpare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0256" y="5458968"/>
            <a:ext cx="201168" cy="141823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6922008" y="5440680"/>
            <a:ext cx="46634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Low-contrast text over busy photos.</a:t>
            </a:r>
            <a:endParaRPr lang="en-US" sz="1300" dirty="0"/>
          </a:p>
        </p:txBody>
      </p:sp>
      <p:sp>
        <p:nvSpPr>
          <p:cNvPr id="21" name="Text 10"/>
          <p:cNvSpPr/>
          <p:nvPr/>
        </p:nvSpPr>
        <p:spPr>
          <a:xfrm>
            <a:off x="41148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CareForVets Brand &amp; Digital Style Guide v1.0</a:t>
            </a:r>
            <a:endParaRPr lang="en-US" sz="750" dirty="0"/>
          </a:p>
        </p:txBody>
      </p:sp>
      <p:sp>
        <p:nvSpPr>
          <p:cNvPr id="22" name="Text 11"/>
          <p:cNvSpPr/>
          <p:nvPr/>
        </p:nvSpPr>
        <p:spPr>
          <a:xfrm>
            <a:off x="11356848" y="64373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&amp; messaging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84124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Respectful. Direct. Competent. Human. Veteran-first.</a:t>
            </a:r>
            <a:endParaRPr lang="en-US" sz="1050" dirty="0"/>
          </a:p>
        </p:txBody>
      </p:sp>
      <p:pic>
        <p:nvPicPr>
          <p:cNvPr id="4" name="Image 0" descr="/mnt/data/cfv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9184"/>
            <a:ext cx="1325880" cy="9326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4944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this</a:t>
            </a:r>
            <a:endParaRPr lang="en-US" sz="1800" dirty="0"/>
          </a:p>
        </p:txBody>
      </p:sp>
      <p:pic>
        <p:nvPicPr>
          <p:cNvPr id="6" name="Image 1" descr="/mnt/data/cfv_star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47088"/>
            <a:ext cx="201168" cy="1418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4984" y="1828800"/>
            <a:ext cx="4846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that respects service, independence and choice.</a:t>
            </a:r>
            <a:endParaRPr lang="en-US" sz="1300" dirty="0"/>
          </a:p>
        </p:txBody>
      </p:sp>
      <p:pic>
        <p:nvPicPr>
          <p:cNvPr id="8" name="Image 2" descr="/mnt/data/cfv_star_transpar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414016"/>
            <a:ext cx="201168" cy="1418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14984" y="2395728"/>
            <a:ext cx="4846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 that reduces friction for veterans and families.</a:t>
            </a:r>
            <a:endParaRPr lang="en-US" sz="1300" dirty="0"/>
          </a:p>
        </p:txBody>
      </p:sp>
      <p:pic>
        <p:nvPicPr>
          <p:cNvPr id="10" name="Image 3" descr="/mnt/data/cfv_star_transpar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980944"/>
            <a:ext cx="201168" cy="1418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14984" y="2962656"/>
            <a:ext cx="4846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health operations built around readiness and follow-through.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621792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 this</a:t>
            </a:r>
            <a:endParaRPr lang="en-US" sz="1800" dirty="0"/>
          </a:p>
        </p:txBody>
      </p:sp>
      <p:pic>
        <p:nvPicPr>
          <p:cNvPr id="13" name="Image 4" descr="/mnt/data/cfv_star_transpar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847088"/>
            <a:ext cx="201168" cy="14182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537960" y="1828800"/>
            <a:ext cx="4846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Overly sentimental “hero” language on every page.</a:t>
            </a:r>
            <a:endParaRPr lang="en-US" sz="1300" dirty="0"/>
          </a:p>
        </p:txBody>
      </p:sp>
      <p:pic>
        <p:nvPicPr>
          <p:cNvPr id="15" name="Image 5" descr="/mnt/data/cfv_star_transpar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2414016"/>
            <a:ext cx="201168" cy="14182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537960" y="2395728"/>
            <a:ext cx="4846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VA/government tone unless required.</a:t>
            </a:r>
            <a:endParaRPr lang="en-US" sz="1300" dirty="0"/>
          </a:p>
        </p:txBody>
      </p:sp>
      <p:pic>
        <p:nvPicPr>
          <p:cNvPr id="17" name="Image 6" descr="/mnt/data/cfv_star_transpar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2980944"/>
            <a:ext cx="201168" cy="141823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537960" y="2962656"/>
            <a:ext cx="4846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that sound like clinical guarantees or official endorsement.</a:t>
            </a:r>
            <a:endParaRPr lang="en-US" sz="1300" dirty="0"/>
          </a:p>
        </p:txBody>
      </p:sp>
      <p:sp>
        <p:nvSpPr>
          <p:cNvPr id="19" name="Shape 10"/>
          <p:cNvSpPr/>
          <p:nvPr/>
        </p:nvSpPr>
        <p:spPr>
          <a:xfrm>
            <a:off x="713232" y="4160520"/>
            <a:ext cx="10561320" cy="123444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2E7"/>
            </a:solidFill>
            <a:prstDash val="solid"/>
          </a:ln>
        </p:spPr>
      </p:sp>
      <p:sp>
        <p:nvSpPr>
          <p:cNvPr id="20" name="Text 11"/>
          <p:cNvSpPr/>
          <p:nvPr/>
        </p:nvSpPr>
        <p:spPr>
          <a:xfrm>
            <a:off x="950976" y="4425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D2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Messaging update</a:t>
            </a:r>
            <a:endParaRPr lang="en-US" sz="850" dirty="0"/>
          </a:p>
        </p:txBody>
      </p:sp>
      <p:sp>
        <p:nvSpPr>
          <p:cNvPr id="21" name="Text 12"/>
          <p:cNvSpPr/>
          <p:nvPr/>
        </p:nvSpPr>
        <p:spPr>
          <a:xfrm>
            <a:off x="960120" y="477316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equity: staffing and veteran employment.  New direction: veteran-centered healthcare navigation, home health readiness and accountable operations.</a:t>
            </a:r>
            <a:endParaRPr lang="en-US" sz="1400" dirty="0"/>
          </a:p>
        </p:txBody>
      </p:sp>
      <p:sp>
        <p:nvSpPr>
          <p:cNvPr id="22" name="Text 13"/>
          <p:cNvSpPr/>
          <p:nvPr/>
        </p:nvSpPr>
        <p:spPr>
          <a:xfrm>
            <a:off x="731520" y="59070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3C3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test: would a veteran, caregiver, VA partner and surveyor all find this clear and credible?</a:t>
            </a:r>
            <a:endParaRPr lang="en-US" sz="1230" dirty="0"/>
          </a:p>
        </p:txBody>
      </p:sp>
      <p:sp>
        <p:nvSpPr>
          <p:cNvPr id="23" name="Text 14"/>
          <p:cNvSpPr/>
          <p:nvPr/>
        </p:nvSpPr>
        <p:spPr>
          <a:xfrm>
            <a:off x="41148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CareForVets Brand &amp; Digital Style Guide v1.0</a:t>
            </a:r>
            <a:endParaRPr lang="en-US" sz="750" dirty="0"/>
          </a:p>
        </p:txBody>
      </p:sp>
      <p:sp>
        <p:nvSpPr>
          <p:cNvPr id="24" name="Text 15"/>
          <p:cNvSpPr/>
          <p:nvPr/>
        </p:nvSpPr>
        <p:spPr>
          <a:xfrm>
            <a:off x="11356848" y="64373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style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84124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CareForVets Ops should feel like a command center: calm, legible and evidence-driven.</a:t>
            </a:r>
            <a:endParaRPr lang="en-US" sz="1050" dirty="0"/>
          </a:p>
        </p:txBody>
      </p:sp>
      <p:pic>
        <p:nvPicPr>
          <p:cNvPr id="4" name="Image 0" descr="/mnt/data/cfv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9184"/>
            <a:ext cx="1325880" cy="9326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" y="1417320"/>
            <a:ext cx="3200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D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1691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Survey readiness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41248" y="20299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present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2267712" y="1984248"/>
            <a:ext cx="950976" cy="310896"/>
          </a:xfrm>
          <a:prstGeom prst="roundRect">
            <a:avLst>
              <a:gd name="adj" fmla="val 23529"/>
            </a:avLst>
          </a:prstGeom>
          <a:solidFill>
            <a:srgbClr val="3C3B6E"/>
          </a:solidFill>
          <a:ln w="12700">
            <a:solidFill>
              <a:srgbClr val="3C3B6E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77440" y="205282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480560" y="1417320"/>
            <a:ext cx="3200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D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0016" y="1691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 authorization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700016" y="2029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approval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6355080" y="1984248"/>
            <a:ext cx="950976" cy="310896"/>
          </a:xfrm>
          <a:prstGeom prst="roundRect">
            <a:avLst>
              <a:gd name="adj" fmla="val 23529"/>
            </a:avLst>
          </a:prstGeom>
          <a:solidFill>
            <a:srgbClr val="CD2838"/>
          </a:solidFill>
          <a:ln w="12700">
            <a:solidFill>
              <a:srgbClr val="CD283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4808" y="205282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8339328" y="141732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D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58784" y="1691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RN capacity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558784" y="20299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before admit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10012680" y="1984248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D8C8A2"/>
          </a:solidFill>
          <a:ln w="12700">
            <a:solidFill>
              <a:srgbClr val="D8C8A2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122408" y="2052828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58368" y="33832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rules</a:t>
            </a:r>
            <a:endParaRPr lang="en-US" sz="1800" dirty="0"/>
          </a:p>
        </p:txBody>
      </p:sp>
      <p:pic>
        <p:nvPicPr>
          <p:cNvPr id="21" name="Image 1" descr="/mnt/data/cfv_star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822192"/>
            <a:ext cx="201168" cy="14182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78408" y="3803904"/>
            <a:ext cx="51206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navy for structure, red for action, slate for context.</a:t>
            </a:r>
            <a:endParaRPr lang="en-US" sz="1300" dirty="0"/>
          </a:p>
        </p:txBody>
      </p:sp>
      <p:pic>
        <p:nvPicPr>
          <p:cNvPr id="23" name="Image 2" descr="/mnt/data/cfv_star_transpar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242816"/>
            <a:ext cx="201168" cy="14182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78408" y="4224528"/>
            <a:ext cx="51206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every status tied to evidence, not vibes.</a:t>
            </a:r>
            <a:endParaRPr lang="en-US" sz="1300" dirty="0"/>
          </a:p>
        </p:txBody>
      </p:sp>
      <p:pic>
        <p:nvPicPr>
          <p:cNvPr id="25" name="Image 3" descr="/mnt/data/cfv_star_transpar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663440"/>
            <a:ext cx="201168" cy="14182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78408" y="4645152"/>
            <a:ext cx="5394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short labels: Verified, Missing, Action, Watch, Human Review.</a:t>
            </a:r>
            <a:endParaRPr lang="en-US" sz="1300" dirty="0"/>
          </a:p>
        </p:txBody>
      </p:sp>
      <p:pic>
        <p:nvPicPr>
          <p:cNvPr id="27" name="Image 4" descr="/mnt/data/cfv_star_transpar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5084064"/>
            <a:ext cx="201168" cy="14182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78408" y="5065776"/>
            <a:ext cx="5577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PHI out of prototype screens unless a compliant environment exists.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498080" y="33832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Button examples</a:t>
            </a:r>
            <a:endParaRPr lang="en-US" sz="1800" dirty="0"/>
          </a:p>
        </p:txBody>
      </p:sp>
      <p:sp>
        <p:nvSpPr>
          <p:cNvPr id="30" name="Shape 23"/>
          <p:cNvSpPr/>
          <p:nvPr/>
        </p:nvSpPr>
        <p:spPr>
          <a:xfrm>
            <a:off x="7534656" y="3840480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CD2838"/>
          </a:solidFill>
          <a:ln w="12700">
            <a:solidFill>
              <a:srgbClr val="CD2838">
                <a:alpha val="0"/>
              </a:srgbClr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7644384" y="3909060"/>
            <a:ext cx="1700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ACTION</a:t>
            </a:r>
            <a:endParaRPr lang="en-US" sz="750" dirty="0"/>
          </a:p>
        </p:txBody>
      </p:sp>
      <p:sp>
        <p:nvSpPr>
          <p:cNvPr id="32" name="Shape 25"/>
          <p:cNvSpPr/>
          <p:nvPr/>
        </p:nvSpPr>
        <p:spPr>
          <a:xfrm>
            <a:off x="7534656" y="438912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3C3B6E"/>
          </a:solidFill>
          <a:ln w="12700">
            <a:solidFill>
              <a:srgbClr val="3C3B6E">
                <a:alpha val="0"/>
              </a:srgbClr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7644384" y="4457700"/>
            <a:ext cx="1335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</a:t>
            </a:r>
            <a:endParaRPr lang="en-US" sz="750" dirty="0"/>
          </a:p>
        </p:txBody>
      </p:sp>
      <p:sp>
        <p:nvSpPr>
          <p:cNvPr id="34" name="Shape 27"/>
          <p:cNvSpPr/>
          <p:nvPr/>
        </p:nvSpPr>
        <p:spPr>
          <a:xfrm>
            <a:off x="7534656" y="493776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D8C8A2"/>
          </a:solidFill>
          <a:ln w="12700">
            <a:solidFill>
              <a:srgbClr val="D8C8A2">
                <a:alpha val="0"/>
              </a:srgbClr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644384" y="5006340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423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750" dirty="0"/>
          </a:p>
        </p:txBody>
      </p:sp>
      <p:sp>
        <p:nvSpPr>
          <p:cNvPr id="36" name="Text 29"/>
          <p:cNvSpPr/>
          <p:nvPr/>
        </p:nvSpPr>
        <p:spPr>
          <a:xfrm>
            <a:off x="41148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CareForVets Brand &amp; Digital Style Guide v1.0</a:t>
            </a:r>
            <a:endParaRPr lang="en-US" sz="750" dirty="0"/>
          </a:p>
        </p:txBody>
      </p:sp>
      <p:sp>
        <p:nvSpPr>
          <p:cNvPr id="37" name="Text 30"/>
          <p:cNvSpPr/>
          <p:nvPr/>
        </p:nvSpPr>
        <p:spPr>
          <a:xfrm>
            <a:off x="11356848" y="64373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12064" y="84124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family connected without turning every product into the same product.</a:t>
            </a:r>
            <a:endParaRPr lang="en-US" sz="1050" dirty="0"/>
          </a:p>
        </p:txBody>
      </p:sp>
      <p:pic>
        <p:nvPicPr>
          <p:cNvPr id="4" name="Image 0" descr="/mnt/data/cfv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29184"/>
            <a:ext cx="1325880" cy="9326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481328"/>
            <a:ext cx="4434840" cy="91440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2E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481328"/>
            <a:ext cx="73152" cy="914400"/>
          </a:xfrm>
          <a:prstGeom prst="rect">
            <a:avLst/>
          </a:prstGeom>
          <a:solidFill>
            <a:srgbClr val="3C3B6E"/>
          </a:solidFill>
          <a:ln w="12700">
            <a:solidFill>
              <a:srgbClr val="3C3B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3272" y="164592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CareForVets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42416" y="2011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Public-facing veteran care brand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6309360" y="1481328"/>
            <a:ext cx="4434840" cy="91440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2E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481328"/>
            <a:ext cx="73152" cy="914400"/>
          </a:xfrm>
          <a:prstGeom prst="rect">
            <a:avLst/>
          </a:prstGeom>
          <a:solidFill>
            <a:srgbClr val="CD2838"/>
          </a:solidFill>
          <a:ln w="12700">
            <a:solidFill>
              <a:srgbClr val="CD28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65392" y="164592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CareForVets Ops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74536" y="2011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operating + compliance command center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777240" y="2852928"/>
            <a:ext cx="4434840" cy="91440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2E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2852928"/>
            <a:ext cx="73152" cy="914400"/>
          </a:xfrm>
          <a:prstGeom prst="rect">
            <a:avLst/>
          </a:prstGeom>
          <a:solidFill>
            <a:srgbClr val="3C3B6E"/>
          </a:solidFill>
          <a:ln w="12700">
            <a:solidFill>
              <a:srgbClr val="3C3B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33272" y="301752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CareForVets Home Health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42416" y="33832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licensed provider identity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6309360" y="2852928"/>
            <a:ext cx="4434840" cy="91440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2E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09360" y="2852928"/>
            <a:ext cx="73152" cy="914400"/>
          </a:xfrm>
          <a:prstGeom prst="rect">
            <a:avLst/>
          </a:prstGeom>
          <a:solidFill>
            <a:srgbClr val="5D6272"/>
          </a:solidFill>
          <a:ln w="12700">
            <a:solidFill>
              <a:srgbClr val="5D627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65392" y="301752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CareNova Solutions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574536" y="33832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 consulting / strategy brand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777240" y="4224528"/>
            <a:ext cx="4434840" cy="914400"/>
          </a:xfrm>
          <a:prstGeom prst="rect">
            <a:avLst/>
          </a:prstGeom>
          <a:solidFill>
            <a:srgbClr val="F7F6F3"/>
          </a:solidFill>
          <a:ln w="12700">
            <a:solidFill>
              <a:srgbClr val="E2E2E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" y="4224528"/>
            <a:ext cx="73152" cy="914400"/>
          </a:xfrm>
          <a:prstGeom prst="rect">
            <a:avLst/>
          </a:prstGeom>
          <a:solidFill>
            <a:srgbClr val="5D6272"/>
          </a:solidFill>
          <a:ln w="12700">
            <a:solidFill>
              <a:srgbClr val="5D62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33272" y="438912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CareNova Control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42416" y="4754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healthcare AI authorization platform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6400800" y="4224528"/>
            <a:ext cx="4315968" cy="1280160"/>
          </a:xfrm>
          <a:prstGeom prst="rect">
            <a:avLst/>
          </a:prstGeom>
          <a:solidFill>
            <a:srgbClr val="3C3B6E"/>
          </a:solidFill>
          <a:ln w="12700">
            <a:solidFill>
              <a:srgbClr val="3C3B6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56832" y="4480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Naming guidance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656832" y="4864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6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“CareForVets Ops” for the software. Reserve legal-provider naming until licensing strategy is final.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1148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CareForVets Brand &amp; Digital Style Guide v1.0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356848" y="64373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D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C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fv_closing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359152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checklist</a:t>
            </a:r>
            <a:endParaRPr lang="en-US" sz="3000" dirty="0"/>
          </a:p>
        </p:txBody>
      </p:sp>
      <p:pic>
        <p:nvPicPr>
          <p:cNvPr id="4" name="Image 1" descr="/mnt/data/cfv_star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355848"/>
            <a:ext cx="219456" cy="15471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15568" y="331012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Finalize logo files: full color, white-backed, icon-only, SVG/PNG.</a:t>
            </a:r>
            <a:endParaRPr lang="en-US" sz="1120" dirty="0"/>
          </a:p>
        </p:txBody>
      </p:sp>
      <p:pic>
        <p:nvPicPr>
          <p:cNvPr id="6" name="Image 2" descr="/mnt/data/cfv_star_transpar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3355848"/>
            <a:ext cx="219456" cy="15471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647688" y="331012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GitHub design tokens: color, type, spacing, status names.</a:t>
            </a:r>
            <a:endParaRPr lang="en-US" sz="1120" dirty="0"/>
          </a:p>
        </p:txBody>
      </p:sp>
      <p:pic>
        <p:nvPicPr>
          <p:cNvPr id="8" name="Image 3" descr="/mnt/data/cfv_star_transpar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4069080"/>
            <a:ext cx="219456" cy="15471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115568" y="402336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CareForVets Ops with synthetic patients only.</a:t>
            </a:r>
            <a:endParaRPr lang="en-US" sz="1120" dirty="0"/>
          </a:p>
        </p:txBody>
      </p:sp>
      <p:pic>
        <p:nvPicPr>
          <p:cNvPr id="10" name="Image 4" descr="/mnt/data/cfv_star_transpar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4069080"/>
            <a:ext cx="219456" cy="15471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647688" y="402336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Rewrite website copy away from staffing toward veteran-centered care.</a:t>
            </a:r>
            <a:endParaRPr lang="en-US" sz="1120" dirty="0"/>
          </a:p>
        </p:txBody>
      </p:sp>
      <p:pic>
        <p:nvPicPr>
          <p:cNvPr id="12" name="Image 5" descr="/mnt/data/cfv_star_transpar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4782312"/>
            <a:ext cx="219456" cy="154716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115568" y="473659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reusable image library and retire generic clinical stock.</a:t>
            </a:r>
            <a:endParaRPr lang="en-US" sz="1120" dirty="0"/>
          </a:p>
        </p:txBody>
      </p:sp>
      <p:pic>
        <p:nvPicPr>
          <p:cNvPr id="14" name="Image 6" descr="/mnt/data/cfv_star_transpar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504" y="4782312"/>
            <a:ext cx="219456" cy="154716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6647688" y="473659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PHI boundary before production use.</a:t>
            </a:r>
            <a:endParaRPr lang="en-US" sz="1120" dirty="0"/>
          </a:p>
        </p:txBody>
      </p:sp>
      <p:sp>
        <p:nvSpPr>
          <p:cNvPr id="16" name="Shape 7"/>
          <p:cNvSpPr/>
          <p:nvPr/>
        </p:nvSpPr>
        <p:spPr>
          <a:xfrm>
            <a:off x="676656" y="6053328"/>
            <a:ext cx="1069848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8"/>
          <p:cNvSpPr/>
          <p:nvPr/>
        </p:nvSpPr>
        <p:spPr>
          <a:xfrm>
            <a:off x="694944" y="6236208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F6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build the guide first, then build the app. Brand clarity will make the GitHub build faster and more consistent.</a:t>
            </a:r>
            <a:endParaRPr lang="en-US" sz="1050" dirty="0"/>
          </a:p>
        </p:txBody>
      </p:sp>
      <p:sp>
        <p:nvSpPr>
          <p:cNvPr id="18" name="Text 9"/>
          <p:cNvSpPr/>
          <p:nvPr/>
        </p:nvSpPr>
        <p:spPr>
          <a:xfrm>
            <a:off x="41148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7F6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CareForVets Brand &amp; Digital Style Guide v1.0</a:t>
            </a:r>
            <a:endParaRPr lang="en-US" sz="750" dirty="0"/>
          </a:p>
        </p:txBody>
      </p:sp>
      <p:sp>
        <p:nvSpPr>
          <p:cNvPr id="19" name="Text 10"/>
          <p:cNvSpPr/>
          <p:nvPr/>
        </p:nvSpPr>
        <p:spPr>
          <a:xfrm>
            <a:off x="11356848" y="64373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7F6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CareForVets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CareForVets Brand &amp; Digital Style Guide v1.0</dc:title>
  <dc:subject>CareForVets Brand &amp; Digital Style Guide v1.0</dc:subject>
  <dc:creator>OpenAI</dc:creator>
  <cp:lastModifiedBy>OpenAI</cp:lastModifiedBy>
  <cp:revision>1</cp:revision>
  <dcterms:created xsi:type="dcterms:W3CDTF">2026-09-19T20:21:04Z</dcterms:created>
  <dcterms:modified xsi:type="dcterms:W3CDTF">2026-09-19T20:21:04Z</dcterms:modified>
</cp:coreProperties>
</file>